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61" r:id="rId2"/>
    <p:sldId id="262" r:id="rId3"/>
    <p:sldId id="265" r:id="rId4"/>
    <p:sldId id="273" r:id="rId5"/>
    <p:sldId id="274" r:id="rId6"/>
    <p:sldId id="270" r:id="rId7"/>
    <p:sldId id="275" r:id="rId8"/>
    <p:sldId id="276" r:id="rId9"/>
    <p:sldId id="264" r:id="rId10"/>
    <p:sldId id="266" r:id="rId11"/>
    <p:sldId id="281" r:id="rId12"/>
    <p:sldId id="278" r:id="rId13"/>
    <p:sldId id="269" r:id="rId14"/>
    <p:sldId id="268" r:id="rId15"/>
  </p:sldIdLst>
  <p:sldSz cx="12192000" cy="6858000"/>
  <p:notesSz cx="6858000" cy="9144000"/>
  <p:embeddedFontLst>
    <p:embeddedFont>
      <p:font typeface="Aptos Narrow" panose="020B000402020202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jOmBtk5DbvnkierGKxpb4ZbKw0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AF82"/>
    <a:srgbClr val="1869A6"/>
    <a:srgbClr val="D7B119"/>
    <a:srgbClr val="047954"/>
    <a:srgbClr val="336E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9" autoAdjust="0"/>
    <p:restoredTop sz="95033" autoAdjust="0"/>
  </p:normalViewPr>
  <p:slideViewPr>
    <p:cSldViewPr snapToGrid="0">
      <p:cViewPr varScale="1">
        <p:scale>
          <a:sx n="64" d="100"/>
          <a:sy n="64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411B5D1F-8744-57EF-68A7-7607D9D16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048A7E45-F67F-026A-95E5-B0F0C9168B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B0B97AE7-14C3-C4BC-1EE7-800CB6DE37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8682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" name="Google Shape;4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pic>
        <p:nvPicPr>
          <p:cNvPr id="13" name="Google Shape;13;p13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>
            <a:spLocks noGrp="1"/>
          </p:cNvSpPr>
          <p:nvPr>
            <p:ph type="ctrTitle"/>
          </p:nvPr>
        </p:nvSpPr>
        <p:spPr>
          <a:xfrm>
            <a:off x="1524000" y="1939331"/>
            <a:ext cx="9144000" cy="1113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6600" b="1" dirty="0"/>
              <a:t>Supply Chain Analysis</a:t>
            </a:r>
            <a:endParaRPr sz="6600" b="1" dirty="0"/>
          </a:p>
        </p:txBody>
      </p:sp>
      <p:sp>
        <p:nvSpPr>
          <p:cNvPr id="161" name="Google Shape;161;p6"/>
          <p:cNvSpPr txBox="1">
            <a:spLocks noGrp="1"/>
          </p:cNvSpPr>
          <p:nvPr>
            <p:ph type="subTitle" idx="1"/>
          </p:nvPr>
        </p:nvSpPr>
        <p:spPr>
          <a:xfrm>
            <a:off x="2865124" y="3429000"/>
            <a:ext cx="6461751" cy="771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200" b="1" dirty="0"/>
              <a:t>(Clustered Confusion Team)</a:t>
            </a:r>
          </a:p>
        </p:txBody>
      </p:sp>
      <p:sp>
        <p:nvSpPr>
          <p:cNvPr id="162" name="Google Shape;16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16/5/25</a:t>
            </a:r>
            <a:endParaRPr dirty="0"/>
          </a:p>
        </p:txBody>
      </p:sp>
      <p:sp>
        <p:nvSpPr>
          <p:cNvPr id="164" name="Google Shape;16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165" name="Google Shape;165;p6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>
            <a:spLocks noGrp="1"/>
          </p:cNvSpPr>
          <p:nvPr>
            <p:ph type="title"/>
          </p:nvPr>
        </p:nvSpPr>
        <p:spPr>
          <a:xfrm>
            <a:off x="170821" y="1457011"/>
            <a:ext cx="5884202" cy="28289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2000" b="1" dirty="0">
                <a:solidFill>
                  <a:schemeClr val="tx1"/>
                </a:solidFill>
                <a:latin typeface="Aptos Narrow" panose="020B0004020202020204" pitchFamily="34" charset="0"/>
              </a:rPr>
              <a:t>This project was designed to analyze and visualize data to extract useful information that is essential for decision-making in the business world (Supply Chain), By honing our skills in cleaning, processing, and analyzing data combined with elegant visuals, we created a comprehensive report that is both simple and effective.</a:t>
            </a:r>
            <a:endParaRPr sz="2000" b="1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171" name="Google Shape;17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16/5/25</a:t>
            </a:r>
            <a:endParaRPr dirty="0"/>
          </a:p>
        </p:txBody>
      </p:sp>
      <p:sp>
        <p:nvSpPr>
          <p:cNvPr id="173" name="Google Shape;17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75" name="Google Shape;175;p7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91;p9">
            <a:extLst>
              <a:ext uri="{FF2B5EF4-FFF2-40B4-BE49-F238E27FC236}">
                <a16:creationId xmlns:a16="http://schemas.microsoft.com/office/drawing/2014/main" id="{1ED45A1E-FE95-A9C3-8DCD-BBE60ADAFDD8}"/>
              </a:ext>
            </a:extLst>
          </p:cNvPr>
          <p:cNvSpPr txBox="1">
            <a:spLocks/>
          </p:cNvSpPr>
          <p:nvPr/>
        </p:nvSpPr>
        <p:spPr>
          <a:xfrm>
            <a:off x="3014911" y="315466"/>
            <a:ext cx="6080227" cy="781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4400"/>
            </a:pPr>
            <a:r>
              <a:rPr lang="en-US" b="1" dirty="0">
                <a:solidFill>
                  <a:srgbClr val="2AAF82"/>
                </a:solidFill>
                <a:latin typeface="Aptos Narrow" panose="020B0004020202020204" pitchFamily="34" charset="0"/>
              </a:rPr>
              <a:t>Project</a:t>
            </a:r>
          </a:p>
        </p:txBody>
      </p:sp>
      <p:sp>
        <p:nvSpPr>
          <p:cNvPr id="4" name="Google Shape;170;p7">
            <a:extLst>
              <a:ext uri="{FF2B5EF4-FFF2-40B4-BE49-F238E27FC236}">
                <a16:creationId xmlns:a16="http://schemas.microsoft.com/office/drawing/2014/main" id="{4D049318-68B5-EFAD-219F-3A7CBD27EF2D}"/>
              </a:ext>
            </a:extLst>
          </p:cNvPr>
          <p:cNvSpPr txBox="1">
            <a:spLocks/>
          </p:cNvSpPr>
          <p:nvPr/>
        </p:nvSpPr>
        <p:spPr>
          <a:xfrm>
            <a:off x="6136977" y="3326004"/>
            <a:ext cx="5884202" cy="28289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120000"/>
              </a:lnSpc>
              <a:buClr>
                <a:schemeClr val="dk1"/>
              </a:buClr>
              <a:buSzPts val="4400"/>
            </a:pPr>
            <a:r>
              <a:rPr lang="en-US" sz="2000" b="1" dirty="0">
                <a:solidFill>
                  <a:schemeClr val="tx1"/>
                </a:solidFill>
                <a:latin typeface="Aptos Narrow" panose="020B0004020202020204" pitchFamily="34" charset="0"/>
                <a:cs typeface="Calibri"/>
                <a:sym typeface="Calibri"/>
              </a:rPr>
              <a:t>After analysis, this Data demonstrated that there is room for improvement in these departments :</a:t>
            </a:r>
          </a:p>
          <a:p>
            <a:pPr algn="just">
              <a:lnSpc>
                <a:spcPct val="120000"/>
              </a:lnSpc>
              <a:buClr>
                <a:schemeClr val="dk1"/>
              </a:buClr>
              <a:buSzPts val="4400"/>
            </a:pPr>
            <a:r>
              <a:rPr lang="en-US" sz="2000" b="1" dirty="0">
                <a:solidFill>
                  <a:srgbClr val="2AAF82"/>
                </a:solidFill>
                <a:latin typeface="Aptos Narrow" panose="020B0004020202020204" pitchFamily="34" charset="0"/>
                <a:cs typeface="Calibri"/>
                <a:sym typeface="Calibri"/>
              </a:rPr>
              <a:t>1. Product Spotlight</a:t>
            </a:r>
          </a:p>
          <a:p>
            <a:pPr algn="just">
              <a:lnSpc>
                <a:spcPct val="120000"/>
              </a:lnSpc>
              <a:buClr>
                <a:schemeClr val="dk1"/>
              </a:buClr>
              <a:buSzPts val="4400"/>
            </a:pPr>
            <a:r>
              <a:rPr lang="en-US" sz="2000" b="1" dirty="0">
                <a:solidFill>
                  <a:srgbClr val="2AAF82"/>
                </a:solidFill>
                <a:latin typeface="Aptos Narrow" panose="020B0004020202020204" pitchFamily="34" charset="0"/>
                <a:cs typeface="Calibri"/>
                <a:sym typeface="Calibri"/>
              </a:rPr>
              <a:t>2. Discount Policies</a:t>
            </a:r>
          </a:p>
          <a:p>
            <a:pPr algn="just">
              <a:lnSpc>
                <a:spcPct val="120000"/>
              </a:lnSpc>
              <a:buClr>
                <a:schemeClr val="dk1"/>
              </a:buClr>
              <a:buSzPts val="4400"/>
            </a:pPr>
            <a:r>
              <a:rPr lang="en-US" sz="2000" b="1" dirty="0">
                <a:solidFill>
                  <a:srgbClr val="2AAF82"/>
                </a:solidFill>
                <a:latin typeface="Aptos Narrow" panose="020B0004020202020204" pitchFamily="34" charset="0"/>
                <a:cs typeface="Calibri"/>
                <a:sym typeface="Calibri"/>
              </a:rPr>
              <a:t>3. Shipping Service</a:t>
            </a:r>
          </a:p>
          <a:p>
            <a:pPr algn="just">
              <a:lnSpc>
                <a:spcPct val="120000"/>
              </a:lnSpc>
              <a:buClr>
                <a:schemeClr val="dk1"/>
              </a:buClr>
              <a:buSzPts val="4400"/>
            </a:pPr>
            <a:r>
              <a:rPr lang="en-US" sz="2000" b="1" dirty="0">
                <a:solidFill>
                  <a:srgbClr val="2AAF82"/>
                </a:solidFill>
                <a:latin typeface="Aptos Narrow" panose="020B0004020202020204" pitchFamily="34" charset="0"/>
                <a:cs typeface="Calibri"/>
                <a:sym typeface="Calibri"/>
              </a:rPr>
              <a:t>4. Geographic Availability</a:t>
            </a:r>
          </a:p>
          <a:p>
            <a:pPr algn="just">
              <a:lnSpc>
                <a:spcPct val="120000"/>
              </a:lnSpc>
              <a:buClr>
                <a:schemeClr val="dk1"/>
              </a:buClr>
              <a:buSzPts val="4400"/>
            </a:pPr>
            <a:r>
              <a:rPr lang="en-US" sz="2000" b="1" dirty="0">
                <a:solidFill>
                  <a:srgbClr val="2AAF82"/>
                </a:solidFill>
                <a:latin typeface="Aptos Narrow" panose="020B0004020202020204" pitchFamily="34" charset="0"/>
                <a:cs typeface="Calibri"/>
                <a:sym typeface="Calibri"/>
              </a:rPr>
              <a:t>5. Customer Reward Programs</a:t>
            </a:r>
          </a:p>
        </p:txBody>
      </p:sp>
      <p:pic>
        <p:nvPicPr>
          <p:cNvPr id="1028" name="Picture 4" descr="AWS Marketplace: DataCo Technologies">
            <a:extLst>
              <a:ext uri="{FF2B5EF4-FFF2-40B4-BE49-F238E27FC236}">
                <a16:creationId xmlns:a16="http://schemas.microsoft.com/office/drawing/2014/main" id="{5BA2AC11-ED74-ACF5-FCAA-93D9DFB16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5012" y="1750700"/>
            <a:ext cx="2700252" cy="97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16/5/25</a:t>
            </a:r>
            <a:endParaRPr dirty="0"/>
          </a:p>
        </p:txBody>
      </p:sp>
      <p:sp>
        <p:nvSpPr>
          <p:cNvPr id="204" name="Google Shape;20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8415903" y="4625928"/>
            <a:ext cx="3144330" cy="96641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Programming languages and libraries: Python, NumPy, seaborn and matplotlib</a:t>
            </a:r>
            <a:endParaRPr sz="16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7190841" y="3296491"/>
            <a:ext cx="3144330" cy="96641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Main entity: Orders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Related Entities: Customer info, Product info, &amp; Category info</a:t>
            </a:r>
            <a:endParaRPr sz="16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6281022" y="2069520"/>
            <a:ext cx="3144330" cy="96641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Calibri"/>
                <a:cs typeface="Calibri"/>
              </a:rPr>
              <a:t>Data Architecture: Non-Relational</a:t>
            </a:r>
            <a:br>
              <a:rPr lang="en-US" sz="1600" b="1" dirty="0">
                <a:solidFill>
                  <a:schemeClr val="bg1"/>
                </a:solidFill>
                <a:latin typeface="Calibri"/>
                <a:cs typeface="Calibri"/>
              </a:rPr>
            </a:br>
            <a:r>
              <a:rPr lang="en-US" sz="1600" b="1" dirty="0">
                <a:solidFill>
                  <a:schemeClr val="bg1"/>
                </a:solidFill>
                <a:latin typeface="Calibri"/>
                <a:cs typeface="Calibri"/>
              </a:rPr>
              <a:t>Source: CSV file</a:t>
            </a:r>
            <a:br>
              <a:rPr lang="en-US" sz="1600" b="1" dirty="0">
                <a:solidFill>
                  <a:schemeClr val="bg1"/>
                </a:solidFill>
                <a:latin typeface="Calibri"/>
                <a:cs typeface="Calibri"/>
              </a:rPr>
            </a:br>
            <a:r>
              <a:rPr lang="en-US" sz="1600" b="1" dirty="0">
                <a:solidFill>
                  <a:schemeClr val="bg1"/>
                </a:solidFill>
                <a:latin typeface="Calibri"/>
                <a:cs typeface="Calibri"/>
              </a:rPr>
              <a:t>Shape: 180,519 rows × 35 columns</a:t>
            </a:r>
            <a:endParaRPr sz="1600" b="1" dirty="0">
              <a:solidFill>
                <a:schemeClr val="bg1"/>
              </a:solidFill>
              <a:latin typeface="Calibri"/>
              <a:cs typeface="Calibri"/>
              <a:sym typeface="Calibri"/>
            </a:endParaRPr>
          </a:p>
        </p:txBody>
      </p:sp>
      <p:pic>
        <p:nvPicPr>
          <p:cNvPr id="209" name="Google Shape;209;p10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91;p9">
            <a:extLst>
              <a:ext uri="{FF2B5EF4-FFF2-40B4-BE49-F238E27FC236}">
                <a16:creationId xmlns:a16="http://schemas.microsoft.com/office/drawing/2014/main" id="{3B3120DE-FF09-C28A-A310-FF7968DCA478}"/>
              </a:ext>
            </a:extLst>
          </p:cNvPr>
          <p:cNvSpPr txBox="1">
            <a:spLocks/>
          </p:cNvSpPr>
          <p:nvPr/>
        </p:nvSpPr>
        <p:spPr>
          <a:xfrm>
            <a:off x="3055886" y="363680"/>
            <a:ext cx="6080227" cy="781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4400"/>
            </a:pPr>
            <a:r>
              <a:rPr lang="en-US" b="1" dirty="0">
                <a:solidFill>
                  <a:srgbClr val="2AAF82"/>
                </a:solidFill>
                <a:latin typeface="Aptos Narrow" panose="020B0004020202020204" pitchFamily="34" charset="0"/>
              </a:rPr>
              <a:t>Data Structure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7031D6-BFC0-F78D-8F83-0C766B3C0B1D}"/>
              </a:ext>
            </a:extLst>
          </p:cNvPr>
          <p:cNvSpPr txBox="1"/>
          <p:nvPr/>
        </p:nvSpPr>
        <p:spPr>
          <a:xfrm>
            <a:off x="541286" y="1517267"/>
            <a:ext cx="5637124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35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was Collected From Kaggle (Stored as CSV)</a:t>
            </a:r>
          </a:p>
          <a:p>
            <a:pPr marL="4635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635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Accessed: Loaded using Python</a:t>
            </a:r>
          </a:p>
          <a:p>
            <a:pPr marL="4635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635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is balanced in Late Delivery Risk: Late/Not Late: 98977/81542</a:t>
            </a:r>
          </a:p>
          <a:p>
            <a:pPr marL="4635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635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cleaned by removing nulls, fixing types, removing useless columns etc.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607890-23B9-99F1-C25E-1EACB8ED27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3" name="Google Shape;191;p9">
            <a:extLst>
              <a:ext uri="{FF2B5EF4-FFF2-40B4-BE49-F238E27FC236}">
                <a16:creationId xmlns:a16="http://schemas.microsoft.com/office/drawing/2014/main" id="{9BA0DF99-7122-C27D-2385-C3F461215508}"/>
              </a:ext>
            </a:extLst>
          </p:cNvPr>
          <p:cNvSpPr txBox="1">
            <a:spLocks/>
          </p:cNvSpPr>
          <p:nvPr/>
        </p:nvSpPr>
        <p:spPr>
          <a:xfrm>
            <a:off x="179199" y="314899"/>
            <a:ext cx="6080227" cy="781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4400"/>
            </a:pPr>
            <a:r>
              <a:rPr lang="en-US" b="1" dirty="0">
                <a:solidFill>
                  <a:srgbClr val="2AAF82"/>
                </a:solidFill>
                <a:latin typeface="Aptos Narrow" panose="020B0004020202020204" pitchFamily="34" charset="0"/>
              </a:rPr>
              <a:t>Data Cleaning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735E106-49E3-E864-D658-D0B2E9062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241" y="1224787"/>
            <a:ext cx="4913623" cy="49177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Google Shape;223;p12">
            <a:extLst>
              <a:ext uri="{FF2B5EF4-FFF2-40B4-BE49-F238E27FC236}">
                <a16:creationId xmlns:a16="http://schemas.microsoft.com/office/drawing/2014/main" id="{3A5DAD92-A710-6FC2-122E-76A95BED049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16/5/25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A27A15-2B18-440C-D0F2-87B03B409559}"/>
              </a:ext>
            </a:extLst>
          </p:cNvPr>
          <p:cNvSpPr txBox="1"/>
          <p:nvPr/>
        </p:nvSpPr>
        <p:spPr>
          <a:xfrm>
            <a:off x="342625" y="1329170"/>
            <a:ext cx="575337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Converted data types for date columns to ensure proper time-based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Dropped unnecessary columns to streamline the dataset.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Corrected wrong values in the Customer State column with accurate state names.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Filled nulls in the Last Name column and created a new Full Name column by combining first and last names.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Translated country names from Spanish to English for consistency.</a:t>
            </a:r>
          </a:p>
        </p:txBody>
      </p:sp>
    </p:spTree>
    <p:extLst>
      <p:ext uri="{BB962C8B-B14F-4D97-AF65-F5344CB8AC3E}">
        <p14:creationId xmlns:p14="http://schemas.microsoft.com/office/powerpoint/2010/main" val="470324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9DD6A-C37C-EBD3-8A00-B58AC3920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BBAFD8-F7EF-4BDA-4280-09569BAF7E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3" name="Google Shape;191;p9">
            <a:extLst>
              <a:ext uri="{FF2B5EF4-FFF2-40B4-BE49-F238E27FC236}">
                <a16:creationId xmlns:a16="http://schemas.microsoft.com/office/drawing/2014/main" id="{1D4B9A07-D8FF-10C3-DDDE-285B4B82B0A2}"/>
              </a:ext>
            </a:extLst>
          </p:cNvPr>
          <p:cNvSpPr txBox="1">
            <a:spLocks/>
          </p:cNvSpPr>
          <p:nvPr/>
        </p:nvSpPr>
        <p:spPr>
          <a:xfrm>
            <a:off x="838200" y="354633"/>
            <a:ext cx="6080227" cy="781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4400"/>
            </a:pPr>
            <a:r>
              <a:rPr lang="en-US" b="1" dirty="0">
                <a:solidFill>
                  <a:srgbClr val="2AAF82"/>
                </a:solidFill>
                <a:latin typeface="Aptos Narrow" panose="020B0004020202020204" pitchFamily="34" charset="0"/>
              </a:rPr>
              <a:t>Data Cleaning</a:t>
            </a:r>
            <a:r>
              <a:rPr lang="ar-EG" b="1" dirty="0">
                <a:solidFill>
                  <a:srgbClr val="2AAF82"/>
                </a:solidFill>
                <a:latin typeface="Aptos Narrow" panose="020B0004020202020204" pitchFamily="34" charset="0"/>
              </a:rPr>
              <a:t> </a:t>
            </a:r>
            <a:r>
              <a:rPr lang="en-US" b="1" dirty="0">
                <a:solidFill>
                  <a:srgbClr val="2AAF82"/>
                </a:solidFill>
                <a:latin typeface="Aptos Narrow" panose="020B0004020202020204" pitchFamily="34" charset="0"/>
              </a:rPr>
              <a:t> </a:t>
            </a:r>
            <a:r>
              <a:rPr lang="en-US" sz="2800" b="1" dirty="0">
                <a:solidFill>
                  <a:srgbClr val="2AAF82"/>
                </a:solidFill>
                <a:latin typeface="Aptos Narrow" panose="020B0004020202020204" pitchFamily="34" charset="0"/>
              </a:rPr>
              <a:t>(Cont’d)</a:t>
            </a:r>
            <a:endParaRPr lang="en-US" b="1" dirty="0">
              <a:solidFill>
                <a:srgbClr val="2AAF82"/>
              </a:solidFill>
              <a:latin typeface="Aptos Narrow" panose="020B0004020202020204" pitchFamily="34" charset="0"/>
            </a:endParaRP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3B7092C-9FB0-1976-174A-112CA4547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058" y="1045889"/>
            <a:ext cx="4972742" cy="50414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Google Shape;223;p12">
            <a:extLst>
              <a:ext uri="{FF2B5EF4-FFF2-40B4-BE49-F238E27FC236}">
                <a16:creationId xmlns:a16="http://schemas.microsoft.com/office/drawing/2014/main" id="{76CBF363-615D-FF78-D495-D10559B9780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16/5/25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2C5608-F2E8-942F-A8D8-08C584672A1C}"/>
              </a:ext>
            </a:extLst>
          </p:cNvPr>
          <p:cNvSpPr txBox="1"/>
          <p:nvPr/>
        </p:nvSpPr>
        <p:spPr>
          <a:xfrm>
            <a:off x="452880" y="1135666"/>
            <a:ext cx="519143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a new column Shipping Delay (Days) by calculating the difference between expected and actual shipping dates.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Replaced numerical values in Late Delivery Risk and Product Status with descriptive labels.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Standardized similar values in Order Status for accurate grouping.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a Season column based on order dates to analyze seasonal trends.</a:t>
            </a:r>
          </a:p>
        </p:txBody>
      </p:sp>
    </p:spTree>
    <p:extLst>
      <p:ext uri="{BB962C8B-B14F-4D97-AF65-F5344CB8AC3E}">
        <p14:creationId xmlns:p14="http://schemas.microsoft.com/office/powerpoint/2010/main" val="1960777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7E6F84-9679-332F-36C3-B6AF9ADE16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3" name="Google Shape;191;p9">
            <a:extLst>
              <a:ext uri="{FF2B5EF4-FFF2-40B4-BE49-F238E27FC236}">
                <a16:creationId xmlns:a16="http://schemas.microsoft.com/office/drawing/2014/main" id="{02C81A06-3257-6CDD-5F81-5B7C65418F18}"/>
              </a:ext>
            </a:extLst>
          </p:cNvPr>
          <p:cNvSpPr txBox="1">
            <a:spLocks/>
          </p:cNvSpPr>
          <p:nvPr/>
        </p:nvSpPr>
        <p:spPr>
          <a:xfrm>
            <a:off x="3055886" y="369415"/>
            <a:ext cx="6080227" cy="781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4400"/>
            </a:pPr>
            <a:r>
              <a:rPr lang="en-US" b="1" dirty="0">
                <a:solidFill>
                  <a:srgbClr val="2AAF82"/>
                </a:solidFill>
                <a:latin typeface="Aptos Narrow" panose="020B0004020202020204" pitchFamily="34" charset="0"/>
              </a:rPr>
              <a:t>SQL Analysis</a:t>
            </a:r>
          </a:p>
        </p:txBody>
      </p:sp>
      <p:sp>
        <p:nvSpPr>
          <p:cNvPr id="4" name="Google Shape;223;p12">
            <a:extLst>
              <a:ext uri="{FF2B5EF4-FFF2-40B4-BE49-F238E27FC236}">
                <a16:creationId xmlns:a16="http://schemas.microsoft.com/office/drawing/2014/main" id="{E4322363-C7AB-5674-70F3-3674EA6225B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16/5/25</a:t>
            </a:r>
            <a:endParaRPr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FB28A45-7477-FEE1-99A2-59E222DBBB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38196" y="1775750"/>
            <a:ext cx="4467330" cy="273246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25B8370-A813-A3AE-B3D7-3AD6FFC402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87836" y="1775750"/>
            <a:ext cx="5048422" cy="26521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F2D08A0-EA94-A383-3BEC-F998CD68952D}"/>
              </a:ext>
            </a:extLst>
          </p:cNvPr>
          <p:cNvSpPr txBox="1"/>
          <p:nvPr/>
        </p:nvSpPr>
        <p:spPr>
          <a:xfrm>
            <a:off x="737713" y="4686449"/>
            <a:ext cx="46480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Caguas has the highest number of orders. However, It does not have a store causing delays.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606169-41AA-E031-1C87-70E2AE0B4B5C}"/>
              </a:ext>
            </a:extLst>
          </p:cNvPr>
          <p:cNvSpPr txBox="1"/>
          <p:nvPr/>
        </p:nvSpPr>
        <p:spPr>
          <a:xfrm>
            <a:off x="6588028" y="4690372"/>
            <a:ext cx="46480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Several cities have a late delivery rate over 70%.</a:t>
            </a:r>
          </a:p>
        </p:txBody>
      </p:sp>
    </p:spTree>
    <p:extLst>
      <p:ext uri="{BB962C8B-B14F-4D97-AF65-F5344CB8AC3E}">
        <p14:creationId xmlns:p14="http://schemas.microsoft.com/office/powerpoint/2010/main" val="2609017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0B472-6CA0-E70E-59B1-CEDDBFC7F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0EE03F-77ED-F84A-A035-53D4BAB673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3" name="Google Shape;191;p9">
            <a:extLst>
              <a:ext uri="{FF2B5EF4-FFF2-40B4-BE49-F238E27FC236}">
                <a16:creationId xmlns:a16="http://schemas.microsoft.com/office/drawing/2014/main" id="{58D47815-D99D-3E3D-F92D-20448D875923}"/>
              </a:ext>
            </a:extLst>
          </p:cNvPr>
          <p:cNvSpPr txBox="1">
            <a:spLocks/>
          </p:cNvSpPr>
          <p:nvPr/>
        </p:nvSpPr>
        <p:spPr>
          <a:xfrm>
            <a:off x="3055886" y="262519"/>
            <a:ext cx="6080227" cy="781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4400"/>
            </a:pPr>
            <a:r>
              <a:rPr lang="en-US" b="1" dirty="0">
                <a:solidFill>
                  <a:srgbClr val="2AAF82"/>
                </a:solidFill>
                <a:latin typeface="Aptos Narrow" panose="020B0004020202020204" pitchFamily="34" charset="0"/>
              </a:rPr>
              <a:t>SQL Analysis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2AAF82"/>
                </a:solidFill>
                <a:effectLst/>
                <a:uLnTx/>
                <a:uFillTx/>
                <a:latin typeface="Aptos Narrow" panose="020B0004020202020204" pitchFamily="34" charset="0"/>
                <a:cs typeface="Arial"/>
                <a:sym typeface="Arial"/>
              </a:rPr>
              <a:t>(Cont’d)</a:t>
            </a:r>
            <a:endParaRPr lang="en-US" b="1" dirty="0">
              <a:solidFill>
                <a:srgbClr val="2AAF82"/>
              </a:solidFill>
              <a:latin typeface="Aptos Narrow" panose="020B0004020202020204" pitchFamily="34" charset="0"/>
            </a:endParaRPr>
          </a:p>
        </p:txBody>
      </p:sp>
      <p:sp>
        <p:nvSpPr>
          <p:cNvPr id="4" name="Google Shape;223;p12">
            <a:extLst>
              <a:ext uri="{FF2B5EF4-FFF2-40B4-BE49-F238E27FC236}">
                <a16:creationId xmlns:a16="http://schemas.microsoft.com/office/drawing/2014/main" id="{1DAC9F97-36B0-0676-2295-508D368ABD8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16/5/25</a:t>
            </a:r>
            <a:endParaRPr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0E6E73A-703E-D42C-1579-53857CC135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92496" y="1581983"/>
            <a:ext cx="4684764" cy="28457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A00AEC3-F3FE-E8F7-9D57-019E7419FE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97943" y="1581983"/>
            <a:ext cx="5151772" cy="28457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686E85D-9B2A-0F7B-F826-6AD06F96DDDF}"/>
              </a:ext>
            </a:extLst>
          </p:cNvPr>
          <p:cNvSpPr txBox="1"/>
          <p:nvPr/>
        </p:nvSpPr>
        <p:spPr>
          <a:xfrm>
            <a:off x="802515" y="4635304"/>
            <a:ext cx="44169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and Second-class shipping modes have the highest average delays.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E63D87-3064-85F0-C9CC-3E4638CD3DB4}"/>
              </a:ext>
            </a:extLst>
          </p:cNvPr>
          <p:cNvSpPr txBox="1"/>
          <p:nvPr/>
        </p:nvSpPr>
        <p:spPr>
          <a:xfrm>
            <a:off x="6728022" y="4635304"/>
            <a:ext cx="44916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While Debit is the most used payment method orders with transfer payment methods often fail.</a:t>
            </a:r>
          </a:p>
        </p:txBody>
      </p:sp>
    </p:spTree>
    <p:extLst>
      <p:ext uri="{BB962C8B-B14F-4D97-AF65-F5344CB8AC3E}">
        <p14:creationId xmlns:p14="http://schemas.microsoft.com/office/powerpoint/2010/main" val="1740111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7E773-A2F1-0F7D-7C2B-120509431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9651D0-E781-0442-B05F-9A962013A3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3" name="Google Shape;191;p9">
            <a:extLst>
              <a:ext uri="{FF2B5EF4-FFF2-40B4-BE49-F238E27FC236}">
                <a16:creationId xmlns:a16="http://schemas.microsoft.com/office/drawing/2014/main" id="{5D76AE8E-314D-07EE-A268-02F368642AFA}"/>
              </a:ext>
            </a:extLst>
          </p:cNvPr>
          <p:cNvSpPr txBox="1">
            <a:spLocks/>
          </p:cNvSpPr>
          <p:nvPr/>
        </p:nvSpPr>
        <p:spPr>
          <a:xfrm>
            <a:off x="3055886" y="292132"/>
            <a:ext cx="6080227" cy="781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4400"/>
            </a:pPr>
            <a:r>
              <a:rPr lang="en-US" b="1" dirty="0">
                <a:solidFill>
                  <a:srgbClr val="2AAF82"/>
                </a:solidFill>
                <a:latin typeface="Aptos Narrow" panose="020B0004020202020204" pitchFamily="34" charset="0"/>
              </a:rPr>
              <a:t>SQL Analysis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2AAF82"/>
                </a:solidFill>
                <a:effectLst/>
                <a:uLnTx/>
                <a:uFillTx/>
                <a:latin typeface="Aptos Narrow" panose="020B0004020202020204" pitchFamily="34" charset="0"/>
                <a:cs typeface="Arial"/>
                <a:sym typeface="Arial"/>
              </a:rPr>
              <a:t>(Cont’d)</a:t>
            </a:r>
            <a:endParaRPr lang="en-US" b="1" dirty="0">
              <a:solidFill>
                <a:srgbClr val="2AAF82"/>
              </a:solidFill>
              <a:latin typeface="Aptos Narrow" panose="020B0004020202020204" pitchFamily="34" charset="0"/>
            </a:endParaRPr>
          </a:p>
        </p:txBody>
      </p:sp>
      <p:sp>
        <p:nvSpPr>
          <p:cNvPr id="4" name="Google Shape;223;p12">
            <a:extLst>
              <a:ext uri="{FF2B5EF4-FFF2-40B4-BE49-F238E27FC236}">
                <a16:creationId xmlns:a16="http://schemas.microsoft.com/office/drawing/2014/main" id="{6ACDFEC3-0767-E18F-DACF-7D249A3E58B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16/5/25</a:t>
            </a:r>
            <a:endParaRPr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37F115F-DAE8-1BE1-DC04-F47AF22898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24764" y="1542644"/>
            <a:ext cx="4336026" cy="24529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D6F67FF-03AE-3596-97EC-0DE980DE26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04325" y="1585153"/>
            <a:ext cx="4336026" cy="245295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62E8619-5438-A26D-F5D3-486B5DF44DE0}"/>
              </a:ext>
            </a:extLst>
          </p:cNvPr>
          <p:cNvSpPr txBox="1"/>
          <p:nvPr/>
        </p:nvSpPr>
        <p:spPr>
          <a:xfrm>
            <a:off x="1044121" y="4274702"/>
            <a:ext cx="44973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identified loyal customers that contributed to a majority of sales especially multiple Mary Smiths from various locations.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68AA94-35FB-EAED-945E-2EBCA2C1AB13}"/>
              </a:ext>
            </a:extLst>
          </p:cNvPr>
          <p:cNvSpPr txBox="1"/>
          <p:nvPr/>
        </p:nvSpPr>
        <p:spPr>
          <a:xfrm>
            <a:off x="6723682" y="4644033"/>
            <a:ext cx="4497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Found Multiple Low performing Products.</a:t>
            </a:r>
          </a:p>
        </p:txBody>
      </p:sp>
    </p:spTree>
    <p:extLst>
      <p:ext uri="{BB962C8B-B14F-4D97-AF65-F5344CB8AC3E}">
        <p14:creationId xmlns:p14="http://schemas.microsoft.com/office/powerpoint/2010/main" val="2557470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3055886" y="322311"/>
            <a:ext cx="6080227" cy="781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>
              <a:buSzPts val="4400"/>
            </a:pPr>
            <a:r>
              <a:rPr lang="en-US" b="1" dirty="0">
                <a:solidFill>
                  <a:srgbClr val="2AAF82"/>
                </a:solidFill>
                <a:latin typeface="Aptos Narrow" panose="020B0004020202020204" pitchFamily="34" charset="0"/>
              </a:rPr>
              <a:t>Power PI Dashboard</a:t>
            </a:r>
            <a:endParaRPr b="1" dirty="0">
              <a:solidFill>
                <a:srgbClr val="2AAF82"/>
              </a:solidFill>
              <a:latin typeface="Aptos Narrow" panose="020B0004020202020204" pitchFamily="34" charset="0"/>
            </a:endParaRPr>
          </a:p>
        </p:txBody>
      </p:sp>
      <p:sp>
        <p:nvSpPr>
          <p:cNvPr id="192" name="Google Shape;19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16/5/25</a:t>
            </a:r>
            <a:endParaRPr dirty="0"/>
          </a:p>
        </p:txBody>
      </p:sp>
      <p:sp>
        <p:nvSpPr>
          <p:cNvPr id="194" name="Google Shape;19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96" name="Google Shape;196;p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18" descr="A close-up of a graph&#10;&#10;AI-generated content may be incorrect.">
            <a:extLst>
              <a:ext uri="{FF2B5EF4-FFF2-40B4-BE49-F238E27FC236}">
                <a16:creationId xmlns:a16="http://schemas.microsoft.com/office/drawing/2014/main" id="{D8EE2845-5E39-3AD5-CB2B-6008AA748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14" y="1450786"/>
            <a:ext cx="5911343" cy="3372422"/>
          </a:xfrm>
          <a:prstGeom prst="rect">
            <a:avLst/>
          </a:prstGeom>
        </p:spPr>
      </p:pic>
      <p:pic>
        <p:nvPicPr>
          <p:cNvPr id="21" name="Picture 20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540AF8A3-E613-F77B-04CE-568E6F4CA4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636487"/>
            <a:ext cx="5911343" cy="33724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16/5/25</a:t>
            </a:r>
            <a:endParaRPr dirty="0"/>
          </a:p>
        </p:txBody>
      </p:sp>
      <p:sp>
        <p:nvSpPr>
          <p:cNvPr id="217" name="Google Shape;21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18" name="Google Shape;218;p11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91;p9">
            <a:extLst>
              <a:ext uri="{FF2B5EF4-FFF2-40B4-BE49-F238E27FC236}">
                <a16:creationId xmlns:a16="http://schemas.microsoft.com/office/drawing/2014/main" id="{E549D531-499A-136D-34BB-D481B3BE71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5886" y="378781"/>
            <a:ext cx="6080227" cy="781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>
              <a:buSzPts val="4400"/>
            </a:pPr>
            <a:r>
              <a:rPr lang="en-US" b="1" dirty="0">
                <a:solidFill>
                  <a:srgbClr val="2AAF82"/>
                </a:solidFill>
                <a:latin typeface="Aptos Narrow" panose="020B0004020202020204" pitchFamily="34" charset="0"/>
              </a:rPr>
              <a:t>Power PI Dashboard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2AAF82"/>
                </a:solidFill>
                <a:effectLst/>
                <a:uLnTx/>
                <a:uFillTx/>
                <a:latin typeface="Aptos Narrow" panose="020B0004020202020204" pitchFamily="34" charset="0"/>
                <a:cs typeface="Arial"/>
                <a:sym typeface="Arial"/>
              </a:rPr>
              <a:t>(Cont’d)</a:t>
            </a:r>
            <a:endParaRPr b="1" dirty="0">
              <a:solidFill>
                <a:srgbClr val="2AAF82"/>
              </a:solidFill>
              <a:latin typeface="Aptos Narrow" panose="020B0004020202020204" pitchFamily="34" charset="0"/>
            </a:endParaRPr>
          </a:p>
        </p:txBody>
      </p:sp>
      <p:pic>
        <p:nvPicPr>
          <p:cNvPr id="3" name="Picture 2" descr="A screenshot of a data analysis report&#10;&#10;AI-generated content may be incorrect.">
            <a:extLst>
              <a:ext uri="{FF2B5EF4-FFF2-40B4-BE49-F238E27FC236}">
                <a16:creationId xmlns:a16="http://schemas.microsoft.com/office/drawing/2014/main" id="{59A723B9-A4EC-4B15-A4A1-E4DB30C73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83" y="2753247"/>
            <a:ext cx="5953273" cy="3396342"/>
          </a:xfrm>
          <a:prstGeom prst="rect">
            <a:avLst/>
          </a:prstGeom>
        </p:spPr>
      </p:pic>
      <p:pic>
        <p:nvPicPr>
          <p:cNvPr id="6" name="Picture 5" descr="A close-up of a graph&#10;&#10;AI-generated content may be incorrect.">
            <a:extLst>
              <a:ext uri="{FF2B5EF4-FFF2-40B4-BE49-F238E27FC236}">
                <a16:creationId xmlns:a16="http://schemas.microsoft.com/office/drawing/2014/main" id="{A331D980-620F-E6F9-7C55-9F86766CB9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899" y="1366575"/>
            <a:ext cx="5953275" cy="33963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4391F32C-86B1-B085-3CD4-75AF02973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DBF704E2-C5F8-82D8-C400-9748699DE92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16/5/25</a:t>
            </a:r>
            <a:endParaRPr dirty="0"/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CEE5D8AA-08EE-1623-33B9-33CE435EAA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18" name="Google Shape;218;p11" title="download.png">
            <a:extLst>
              <a:ext uri="{FF2B5EF4-FFF2-40B4-BE49-F238E27FC236}">
                <a16:creationId xmlns:a16="http://schemas.microsoft.com/office/drawing/2014/main" id="{1E456CF1-0C1C-231F-1083-322BE407F56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91;p9">
            <a:extLst>
              <a:ext uri="{FF2B5EF4-FFF2-40B4-BE49-F238E27FC236}">
                <a16:creationId xmlns:a16="http://schemas.microsoft.com/office/drawing/2014/main" id="{955A2F00-CE8F-D3BF-2249-DAEF247922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5885" y="336278"/>
            <a:ext cx="6080227" cy="781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>
              <a:buSzPts val="4400"/>
            </a:pPr>
            <a:r>
              <a:rPr lang="en-US" b="1" dirty="0">
                <a:solidFill>
                  <a:srgbClr val="2AAF82"/>
                </a:solidFill>
                <a:latin typeface="Aptos Narrow" panose="020B0004020202020204" pitchFamily="34" charset="0"/>
              </a:rPr>
              <a:t>Power PI Dashboard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2AAF82"/>
                </a:solidFill>
                <a:effectLst/>
                <a:uLnTx/>
                <a:uFillTx/>
                <a:latin typeface="Aptos Narrow" panose="020B0004020202020204" pitchFamily="34" charset="0"/>
                <a:cs typeface="Arial"/>
                <a:sym typeface="Arial"/>
              </a:rPr>
              <a:t>(Cont’d)</a:t>
            </a:r>
            <a:endParaRPr b="1" dirty="0">
              <a:solidFill>
                <a:srgbClr val="2AAF82"/>
              </a:solidFill>
              <a:latin typeface="Aptos Narrow" panose="020B0004020202020204" pitchFamily="34" charset="0"/>
            </a:endParaRPr>
          </a:p>
        </p:txBody>
      </p:sp>
      <p:pic>
        <p:nvPicPr>
          <p:cNvPr id="4" name="Picture 3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B03ED3E6-C76A-9FFD-F082-9BAACF0D02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4" y="1218178"/>
            <a:ext cx="8388627" cy="47857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9D693B-DAC7-DD1E-87D9-C0AECCBE3F8E}"/>
              </a:ext>
            </a:extLst>
          </p:cNvPr>
          <p:cNvSpPr txBox="1"/>
          <p:nvPr/>
        </p:nvSpPr>
        <p:spPr>
          <a:xfrm>
            <a:off x="8610600" y="1564320"/>
            <a:ext cx="3325204" cy="40934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PI revealed to us that there is consistent and minimal deviation of performance for the given timeline of the data, and a clear lack of geographic reach which is apparent when looking at </a:t>
            </a:r>
            <a:r>
              <a:rPr lang="en-US" sz="2000" dirty="0">
                <a:solidFill>
                  <a:srgbClr val="04795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Caguas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Total Sales.</a:t>
            </a:r>
          </a:p>
          <a:p>
            <a:pPr algn="just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Moreover, over half of all deliveries arrive late and more than 50% of orders never end up  being completed.</a:t>
            </a:r>
          </a:p>
        </p:txBody>
      </p:sp>
    </p:spTree>
    <p:extLst>
      <p:ext uri="{BB962C8B-B14F-4D97-AF65-F5344CB8AC3E}">
        <p14:creationId xmlns:p14="http://schemas.microsoft.com/office/powerpoint/2010/main" val="2397643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02ED8-45B7-CAD4-67FE-E90024360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10C2AA-23D4-DA45-ABE6-D2586E8EF3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3" name="Google Shape;191;p9">
            <a:extLst>
              <a:ext uri="{FF2B5EF4-FFF2-40B4-BE49-F238E27FC236}">
                <a16:creationId xmlns:a16="http://schemas.microsoft.com/office/drawing/2014/main" id="{3AAA277C-8B8F-E42F-3E4D-F7C41FF77E58}"/>
              </a:ext>
            </a:extLst>
          </p:cNvPr>
          <p:cNvSpPr txBox="1">
            <a:spLocks/>
          </p:cNvSpPr>
          <p:nvPr/>
        </p:nvSpPr>
        <p:spPr>
          <a:xfrm>
            <a:off x="3055886" y="331857"/>
            <a:ext cx="6080227" cy="781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4400"/>
            </a:pPr>
            <a:r>
              <a:rPr lang="en-US" b="1" dirty="0">
                <a:solidFill>
                  <a:srgbClr val="2AAF82"/>
                </a:solidFill>
                <a:latin typeface="Aptos Narrow" panose="020B0004020202020204" pitchFamily="34" charset="0"/>
              </a:rPr>
              <a:t>Recommendations</a:t>
            </a:r>
          </a:p>
        </p:txBody>
      </p:sp>
      <p:sp>
        <p:nvSpPr>
          <p:cNvPr id="4" name="Google Shape;223;p12">
            <a:extLst>
              <a:ext uri="{FF2B5EF4-FFF2-40B4-BE49-F238E27FC236}">
                <a16:creationId xmlns:a16="http://schemas.microsoft.com/office/drawing/2014/main" id="{39806DB5-81C1-AC51-BDC6-C4CA9315882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16/5/25</a:t>
            </a:r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AA4A1D-295D-561F-62E2-081B17620B3C}"/>
              </a:ext>
            </a:extLst>
          </p:cNvPr>
          <p:cNvSpPr txBox="1"/>
          <p:nvPr/>
        </p:nvSpPr>
        <p:spPr>
          <a:xfrm>
            <a:off x="426379" y="1460212"/>
            <a:ext cx="5220794" cy="1200329"/>
          </a:xfrm>
          <a:prstGeom prst="rect">
            <a:avLst/>
          </a:prstGeom>
          <a:solidFill>
            <a:srgbClr val="1869A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multiple stores in Caguas and adjacent cities.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224A93-471F-5E44-802D-B5848D3EAF18}"/>
              </a:ext>
            </a:extLst>
          </p:cNvPr>
          <p:cNvSpPr txBox="1"/>
          <p:nvPr/>
        </p:nvSpPr>
        <p:spPr>
          <a:xfrm>
            <a:off x="426379" y="4808699"/>
            <a:ext cx="5220794" cy="1200329"/>
          </a:xfrm>
          <a:prstGeom prst="rect">
            <a:avLst/>
          </a:prstGeom>
          <a:solidFill>
            <a:srgbClr val="1869A6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2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Create tailored offers and loyalty programs to retain top customers.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E8550A-6799-56E4-153C-66F6B6EDECF1}"/>
              </a:ext>
            </a:extLst>
          </p:cNvPr>
          <p:cNvSpPr txBox="1"/>
          <p:nvPr/>
        </p:nvSpPr>
        <p:spPr>
          <a:xfrm>
            <a:off x="426379" y="3101999"/>
            <a:ext cx="5220794" cy="1200329"/>
          </a:xfrm>
          <a:prstGeom prst="rect">
            <a:avLst/>
          </a:prstGeom>
          <a:solidFill>
            <a:srgbClr val="1869A6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2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Optimize these shipping modes and enhance customer support for affected segments.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26750-0834-9505-776D-D3FC1A90F2A3}"/>
              </a:ext>
            </a:extLst>
          </p:cNvPr>
          <p:cNvSpPr txBox="1"/>
          <p:nvPr/>
        </p:nvSpPr>
        <p:spPr>
          <a:xfrm>
            <a:off x="6417547" y="4808699"/>
            <a:ext cx="5220794" cy="1200329"/>
          </a:xfrm>
          <a:prstGeom prst="rect">
            <a:avLst/>
          </a:prstGeom>
          <a:solidFill>
            <a:srgbClr val="1869A6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2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Offer discounts and combo deals to increase customer interest and sales or stop production entirely.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996A6C-187D-FC46-98D0-A3A8DF849799}"/>
              </a:ext>
            </a:extLst>
          </p:cNvPr>
          <p:cNvSpPr txBox="1"/>
          <p:nvPr/>
        </p:nvSpPr>
        <p:spPr>
          <a:xfrm>
            <a:off x="6417547" y="3101999"/>
            <a:ext cx="5220794" cy="1200329"/>
          </a:xfrm>
          <a:prstGeom prst="rect">
            <a:avLst/>
          </a:prstGeom>
          <a:solidFill>
            <a:srgbClr val="1869A6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2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Use trusted payment gateways to ensure secure payment processing.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6DEE13-A423-5557-EDE6-C8B94703619A}"/>
              </a:ext>
            </a:extLst>
          </p:cNvPr>
          <p:cNvSpPr txBox="1"/>
          <p:nvPr/>
        </p:nvSpPr>
        <p:spPr>
          <a:xfrm>
            <a:off x="6417547" y="1460212"/>
            <a:ext cx="5220794" cy="1200329"/>
          </a:xfrm>
          <a:prstGeom prst="rect">
            <a:avLst/>
          </a:prstGeom>
          <a:solidFill>
            <a:srgbClr val="1869A6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2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Improve customer service and use feedback forms to better understand the low customer retention rate.</a:t>
            </a:r>
          </a:p>
        </p:txBody>
      </p:sp>
    </p:spTree>
    <p:extLst>
      <p:ext uri="{BB962C8B-B14F-4D97-AF65-F5344CB8AC3E}">
        <p14:creationId xmlns:p14="http://schemas.microsoft.com/office/powerpoint/2010/main" val="556208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F4986-F8F4-09D9-99BC-8C865A93D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03487"/>
            <a:ext cx="9144000" cy="1006475"/>
          </a:xfrm>
        </p:spPr>
        <p:txBody>
          <a:bodyPr/>
          <a:lstStyle/>
          <a:p>
            <a:r>
              <a:rPr lang="en-US" b="1" dirty="0"/>
              <a:t>Much Thanks For Your Time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3F36CA-6049-53DE-0604-490EAD64CB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819237"/>
          </a:xfrm>
        </p:spPr>
        <p:txBody>
          <a:bodyPr/>
          <a:lstStyle/>
          <a:p>
            <a:r>
              <a:rPr lang="en-US" b="1" dirty="0"/>
              <a:t>Any questions?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49DDA-6C57-A33A-A07F-DD26403EE5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5" name="Google Shape;223;p12">
            <a:extLst>
              <a:ext uri="{FF2B5EF4-FFF2-40B4-BE49-F238E27FC236}">
                <a16:creationId xmlns:a16="http://schemas.microsoft.com/office/drawing/2014/main" id="{2B172B50-7931-F17F-3DD2-CB536E0F8F4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16/5/25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3244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BDEA92-16FE-0793-5996-FDD4FA99FE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3" name="Google Shape;191;p9">
            <a:extLst>
              <a:ext uri="{FF2B5EF4-FFF2-40B4-BE49-F238E27FC236}">
                <a16:creationId xmlns:a16="http://schemas.microsoft.com/office/drawing/2014/main" id="{C21FEB7A-7DED-8686-2024-E30AA29FBA7D}"/>
              </a:ext>
            </a:extLst>
          </p:cNvPr>
          <p:cNvSpPr txBox="1">
            <a:spLocks/>
          </p:cNvSpPr>
          <p:nvPr/>
        </p:nvSpPr>
        <p:spPr>
          <a:xfrm>
            <a:off x="3055884" y="1353643"/>
            <a:ext cx="6080227" cy="781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  <a:buClr>
                <a:schemeClr val="dk1"/>
              </a:buClr>
              <a:buSzPts val="4400"/>
            </a:pPr>
            <a:r>
              <a:rPr lang="en-US" sz="4400" b="1" dirty="0">
                <a:solidFill>
                  <a:srgbClr val="2AAF82"/>
                </a:solidFill>
                <a:latin typeface="Aptos Narrow" panose="020B0004020202020204" pitchFamily="34" charset="0"/>
                <a:cs typeface="Calibri"/>
                <a:sym typeface="Calibri"/>
              </a:rPr>
              <a:t>Team Members &amp; Roles</a:t>
            </a:r>
          </a:p>
        </p:txBody>
      </p:sp>
      <p:sp>
        <p:nvSpPr>
          <p:cNvPr id="5" name="Google Shape;223;p12">
            <a:extLst>
              <a:ext uri="{FF2B5EF4-FFF2-40B4-BE49-F238E27FC236}">
                <a16:creationId xmlns:a16="http://schemas.microsoft.com/office/drawing/2014/main" id="{12490D42-8752-39EC-1098-078519D8A68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16/5/25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212BCA-C3CE-D5B8-2661-CCD86E66C210}"/>
              </a:ext>
            </a:extLst>
          </p:cNvPr>
          <p:cNvSpPr txBox="1"/>
          <p:nvPr/>
        </p:nvSpPr>
        <p:spPr>
          <a:xfrm>
            <a:off x="2795631" y="2134676"/>
            <a:ext cx="6600731" cy="3261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8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ptos Narrow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Osama Tarek : Team Leader &amp; Report </a:t>
            </a:r>
          </a:p>
          <a:p>
            <a:pPr marL="457200" lvl="8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ptos Narrow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Yara Khaled : Data Cleaning &amp; Analysis</a:t>
            </a:r>
          </a:p>
          <a:p>
            <a:pPr marL="457200" lvl="8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ptos Narrow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Mohamed Hatem : </a:t>
            </a:r>
            <a:r>
              <a:rPr lang="en-US" sz="2800" b="1">
                <a:latin typeface="Aptos Narrow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PI Dashboard </a:t>
            </a:r>
            <a:endParaRPr lang="en-US" sz="2800" b="1" dirty="0">
              <a:latin typeface="Aptos Narrow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8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ptos Narrow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Hanin El Sherif : Domain Understanding</a:t>
            </a:r>
          </a:p>
          <a:p>
            <a:pPr marL="457200" lvl="8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ptos Narrow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Mina Maher : Story &amp; PPT.</a:t>
            </a:r>
          </a:p>
        </p:txBody>
      </p:sp>
    </p:spTree>
    <p:extLst>
      <p:ext uri="{BB962C8B-B14F-4D97-AF65-F5344CB8AC3E}">
        <p14:creationId xmlns:p14="http://schemas.microsoft.com/office/powerpoint/2010/main" val="3803412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999</TotalTime>
  <Words>638</Words>
  <Application>Microsoft Office PowerPoint</Application>
  <PresentationFormat>Widescreen</PresentationFormat>
  <Paragraphs>98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Aptos Narrow</vt:lpstr>
      <vt:lpstr>Office Theme</vt:lpstr>
      <vt:lpstr>Supply Chain Analysis</vt:lpstr>
      <vt:lpstr>This project was designed to analyze and visualize data to extract useful information that is essential for decision-making in the business world (Supply Chain), By honing our skills in cleaning, processing, and analyzing data combined with elegant visuals, we created a comprehensive report that is both simple and effective.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 PI Dashboard</vt:lpstr>
      <vt:lpstr>Power PI Dashboard (Cont’d)</vt:lpstr>
      <vt:lpstr>Power PI Dashboard (Cont’d)</vt:lpstr>
      <vt:lpstr>PowerPoint Presentation</vt:lpstr>
      <vt:lpstr>Much Thanks For Your Time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SAMA</dc:creator>
  <cp:lastModifiedBy>يارا خالد حامد</cp:lastModifiedBy>
  <cp:revision>21</cp:revision>
  <dcterms:created xsi:type="dcterms:W3CDTF">2024-03-14T10:03:54Z</dcterms:created>
  <dcterms:modified xsi:type="dcterms:W3CDTF">2025-05-17T06:52:39Z</dcterms:modified>
</cp:coreProperties>
</file>